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72" r:id="rId10"/>
    <p:sldId id="270" r:id="rId11"/>
    <p:sldId id="27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DF345C-9FC2-3B93-CE0D-5D6DF98B65DB}" v="1095" dt="2026-03-13T13:56:14.7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 autoAdjust="0"/>
    <p:restoredTop sz="94641" autoAdjust="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23183-558A-4E80-8E0C-414384B695CB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8FEA-3B78-4AAB-970E-6B669CBBC1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23183-558A-4E80-8E0C-414384B695CB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8FEA-3B78-4AAB-970E-6B669CBBC1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23183-558A-4E80-8E0C-414384B695CB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8FEA-3B78-4AAB-970E-6B669CBBC1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23183-558A-4E80-8E0C-414384B695CB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8FEA-3B78-4AAB-970E-6B669CBBC1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23183-558A-4E80-8E0C-414384B695CB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8FEA-3B78-4AAB-970E-6B669CBBC1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23183-558A-4E80-8E0C-414384B695CB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8FEA-3B78-4AAB-970E-6B669CBBC1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23183-558A-4E80-8E0C-414384B695CB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8FEA-3B78-4AAB-970E-6B669CBBC1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23183-558A-4E80-8E0C-414384B695CB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8FEA-3B78-4AAB-970E-6B669CBBC1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23183-558A-4E80-8E0C-414384B695CB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8FEA-3B78-4AAB-970E-6B669CBBC1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23183-558A-4E80-8E0C-414384B695CB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8FEA-3B78-4AAB-970E-6B669CBBC1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23183-558A-4E80-8E0C-414384B695CB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48FEA-3B78-4AAB-970E-6B669CBBC1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23183-558A-4E80-8E0C-414384B695CB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48FEA-3B78-4AAB-970E-6B669CBBC18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1752600" y="457200"/>
            <a:ext cx="6858000" cy="5334001"/>
          </a:xfrm>
        </p:spPr>
        <p:txBody>
          <a:bodyPr>
            <a:normAutofit/>
          </a:bodyPr>
          <a:lstStyle/>
          <a:p>
            <a:r>
              <a:rPr lang="en-US" sz="6600" b="1" cap="all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RISHVANTH A</a:t>
            </a:r>
            <a:br>
              <a:rPr lang="en-US" sz="6600" b="1" cap="all" dirty="0">
                <a:ln w="9000" cmpd="sng">
                  <a:solidFill>
                    <a:srgbClr val="8064A2">
                      <a:shade val="50000"/>
                      <a:satMod val="120000"/>
                    </a:srgbClr>
                  </a:solidFill>
                  <a:prstDash val="solid"/>
                </a:ln>
                <a:gradFill>
                  <a:gsLst>
                    <a:gs pos="0">
                      <a:srgbClr val="8064A2">
                        <a:shade val="20000"/>
                        <a:satMod val="245000"/>
                      </a:srgbClr>
                    </a:gs>
                    <a:gs pos="43000">
                      <a:srgbClr val="8064A2">
                        <a:satMod val="255000"/>
                      </a:srgbClr>
                    </a:gs>
                    <a:gs pos="48000">
                      <a:srgbClr val="8064A2">
                        <a:shade val="85000"/>
                        <a:satMod val="255000"/>
                      </a:srgbClr>
                    </a:gs>
                    <a:gs pos="100000">
                      <a:srgbClr val="8064A2">
                        <a:shade val="20000"/>
                        <a:satMod val="245000"/>
                      </a:srgbClr>
                    </a:gs>
                  </a:gsLst>
                  <a:lin ang="5400000"/>
                </a:gradFill>
                <a:effectLst>
                  <a:glow rad="101600">
                    <a:srgbClr val="8064A2">
                      <a:satMod val="175000"/>
                      <a:alpha val="40000"/>
                    </a:srgbClr>
                  </a:glow>
                </a:effectLst>
                <a:ea typeface="Calibri"/>
                <a:cs typeface="Calibri"/>
              </a:rPr>
            </a:br>
            <a:r>
              <a:rPr lang="en-US" sz="6600" b="1" cap="all">
                <a:ln w="9000" cmpd="sng">
                  <a:solidFill>
                    <a:srgbClr val="8064A2">
                      <a:shade val="50000"/>
                      <a:satMod val="120000"/>
                    </a:srgbClr>
                  </a:solidFill>
                  <a:prstDash val="solid"/>
                </a:ln>
                <a:gradFill>
                  <a:gsLst>
                    <a:gs pos="0">
                      <a:srgbClr val="8064A2">
                        <a:shade val="20000"/>
                        <a:satMod val="245000"/>
                      </a:srgbClr>
                    </a:gs>
                    <a:gs pos="43000">
                      <a:srgbClr val="8064A2">
                        <a:satMod val="255000"/>
                      </a:srgbClr>
                    </a:gs>
                    <a:gs pos="48000">
                      <a:srgbClr val="8064A2">
                        <a:shade val="85000"/>
                        <a:satMod val="255000"/>
                      </a:srgbClr>
                    </a:gs>
                    <a:gs pos="100000">
                      <a:srgbClr val="8064A2">
                        <a:shade val="20000"/>
                        <a:satMod val="245000"/>
                      </a:srgbClr>
                    </a:gs>
                  </a:gsLst>
                  <a:lin ang="5400000"/>
                </a:gradFill>
                <a:effectLst>
                  <a:glow rad="101600">
                    <a:srgbClr val="8064A2">
                      <a:satMod val="175000"/>
                      <a:alpha val="40000"/>
                    </a:srgbClr>
                  </a:glow>
                </a:effectLst>
                <a:ea typeface="Calibri"/>
                <a:cs typeface="Calibri"/>
              </a:rPr>
              <a:t>TEAM - 3</a:t>
            </a:r>
            <a:br>
              <a:rPr lang="en-US" sz="66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a:rPr>
            </a:br>
            <a:r>
              <a:rPr lang="en-US" sz="6600" b="1" cap="all">
                <a:ln w="9000" cmpd="sng">
                  <a:solidFill>
                    <a:srgbClr val="8064A2">
                      <a:shade val="50000"/>
                      <a:satMod val="120000"/>
                    </a:srgbClr>
                  </a:solidFill>
                  <a:prstDash val="solid"/>
                </a:ln>
                <a:gradFill>
                  <a:gsLst>
                    <a:gs pos="0">
                      <a:srgbClr val="8064A2">
                        <a:shade val="20000"/>
                        <a:satMod val="245000"/>
                      </a:srgbClr>
                    </a:gs>
                    <a:gs pos="43000">
                      <a:srgbClr val="8064A2">
                        <a:satMod val="255000"/>
                      </a:srgbClr>
                    </a:gs>
                    <a:gs pos="48000">
                      <a:srgbClr val="8064A2">
                        <a:shade val="85000"/>
                        <a:satMod val="255000"/>
                      </a:srgbClr>
                    </a:gs>
                    <a:gs pos="100000">
                      <a:srgbClr val="8064A2">
                        <a:shade val="20000"/>
                        <a:satMod val="245000"/>
                      </a:srgbClr>
                    </a:gs>
                  </a:gsLst>
                  <a:lin ang="5400000"/>
                </a:gradFill>
                <a:effectLst>
                  <a:glow rad="101600">
                    <a:srgbClr val="8064A2">
                      <a:satMod val="175000"/>
                      <a:alpha val="40000"/>
                    </a:srgbClr>
                  </a:glow>
                </a:effectLst>
                <a:ea typeface="Calibri"/>
                <a:cs typeface="Calibri"/>
              </a:rPr>
              <a:t>STOCK TREND PREDICTION AI</a:t>
            </a:r>
            <a:endParaRPr lang="en-US" sz="6600" b="1" cap="all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effectLst>
                <a:glow rad="101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444382" y="1160948"/>
            <a:ext cx="5867400" cy="111088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buNone/>
            </a:pPr>
            <a:r>
              <a:rPr lang="en-US" sz="5400" dirty="0">
                <a:ln>
                  <a:solidFill>
                    <a:srgbClr val="0070C0"/>
                  </a:solidFill>
                </a:ln>
                <a:solidFill>
                  <a:srgbClr val="00B0F0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Introduction</a:t>
            </a:r>
            <a:r>
              <a:rPr lang="en-US" sz="5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 </a:t>
            </a:r>
          </a:p>
          <a:p>
            <a:pPr algn="ctr">
              <a:buNone/>
            </a:pPr>
            <a:endParaRPr lang="en-US" sz="2800" dirty="0">
              <a:solidFill>
                <a:srgbClr val="00B050"/>
              </a:solidFill>
              <a:ea typeface="Calibri"/>
              <a:cs typeface="Calibri"/>
            </a:endParaRPr>
          </a:p>
          <a:p>
            <a:pPr algn="ctr">
              <a:buNone/>
            </a:pPr>
            <a:r>
              <a:rPr lang="en-US" sz="2800" dirty="0">
                <a:solidFill>
                  <a:srgbClr val="00B050"/>
                </a:solidFill>
                <a:ea typeface="Calibri"/>
                <a:cs typeface="Calibri"/>
              </a:rPr>
              <a:t>  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5A9176-DD41-F0C3-9DC5-70B0772AE8B8}"/>
              </a:ext>
            </a:extLst>
          </p:cNvPr>
          <p:cNvSpPr txBox="1"/>
          <p:nvPr/>
        </p:nvSpPr>
        <p:spPr>
          <a:xfrm>
            <a:off x="2875838" y="2533715"/>
            <a:ext cx="5662100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latin typeface="Arial"/>
                <a:ea typeface="Calibri"/>
                <a:cs typeface="Arial"/>
              </a:rPr>
              <a:t>Machine Learning Model that predicts the next day's closing price using historical data </a:t>
            </a:r>
            <a:r>
              <a:rPr lang="en-US" sz="3200">
                <a:latin typeface="Arial"/>
                <a:ea typeface="Calibri"/>
                <a:cs typeface="Arial"/>
              </a:rPr>
              <a:t>of Stock</a:t>
            </a:r>
            <a:r>
              <a:rPr lang="en-US" sz="3200" dirty="0">
                <a:latin typeface="Arial"/>
                <a:ea typeface="Calibri"/>
                <a:cs typeface="Arial"/>
              </a:rPr>
              <a:t> values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864742" y="563628"/>
            <a:ext cx="5715000" cy="8353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buNone/>
            </a:pPr>
            <a:r>
              <a:rPr lang="en-US" sz="4800" b="1" dirty="0">
                <a:ln>
                  <a:solidFill>
                    <a:srgbClr val="FF0000"/>
                  </a:solidFill>
                </a:ln>
                <a:solidFill>
                  <a:schemeClr val="bg2">
                    <a:lumMod val="10000"/>
                  </a:schemeClr>
                </a:solidFill>
              </a:rPr>
              <a:t>Problem Statement</a:t>
            </a:r>
          </a:p>
          <a:p>
            <a:pPr algn="ctr">
              <a:buNone/>
            </a:pPr>
            <a:endParaRPr lang="en-US" sz="4800" b="1" dirty="0">
              <a:ln>
                <a:solidFill>
                  <a:srgbClr val="FF0000"/>
                </a:solidFill>
              </a:ln>
              <a:solidFill>
                <a:schemeClr val="bg2">
                  <a:lumMod val="10000"/>
                </a:schemeClr>
              </a:solidFill>
              <a:ea typeface="+mn-lt"/>
              <a:cs typeface="+mn-lt"/>
            </a:endParaRPr>
          </a:p>
          <a:p>
            <a:endParaRPr lang="en-US" sz="4000">
              <a:solidFill>
                <a:srgbClr val="00B0F0"/>
              </a:solidFill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F9E28C-AF0A-08A3-7751-B8DF1AE1ACAA}"/>
              </a:ext>
            </a:extLst>
          </p:cNvPr>
          <p:cNvSpPr txBox="1"/>
          <p:nvPr/>
        </p:nvSpPr>
        <p:spPr>
          <a:xfrm>
            <a:off x="2862680" y="1712647"/>
            <a:ext cx="5591253" cy="44873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sz="2800">
                <a:ea typeface="Calibri"/>
                <a:cs typeface="Calibri"/>
              </a:rPr>
              <a:t>Stock markets generate large historical data, but predicting future prices is difficult due to market volatility and complex patterns.</a:t>
            </a:r>
            <a:br>
              <a:rPr lang="en-US" sz="2800" dirty="0">
                <a:ea typeface="Calibri"/>
                <a:cs typeface="Calibri"/>
              </a:rPr>
            </a:br>
            <a:r>
              <a:rPr lang="en-US" sz="2800" dirty="0">
                <a:ea typeface="Calibri"/>
                <a:cs typeface="Calibri"/>
              </a:rPr>
              <a:t> </a:t>
            </a: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sz="2800">
                <a:ea typeface="Calibri"/>
                <a:cs typeface="Calibri"/>
              </a:rPr>
              <a:t>This project develops an AI-based model that analyzes past stock data to predict future stock trends using ML.</a:t>
            </a:r>
            <a:endParaRPr lang="en-US" sz="28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827948" y="293465"/>
            <a:ext cx="5555357" cy="1110253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None/>
            </a:pPr>
            <a:r>
              <a:rPr lang="en-US" sz="6600" b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Abstract</a:t>
            </a:r>
            <a:br>
              <a:rPr lang="en-US" sz="66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</a:br>
            <a:endParaRPr lang="en-US" sz="1800">
              <a:ln w="1905"/>
              <a:solidFill>
                <a:srgbClr val="00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/>
              <a:ea typeface="Calibri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F24D32-B0F6-36C7-219B-7B4444ADCE54}"/>
              </a:ext>
            </a:extLst>
          </p:cNvPr>
          <p:cNvSpPr txBox="1"/>
          <p:nvPr/>
        </p:nvSpPr>
        <p:spPr>
          <a:xfrm>
            <a:off x="2363037" y="1402184"/>
            <a:ext cx="6446142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This project builds a ML model to predict short-term stock trends using historical price and volume data. Raw data is cleaned and preprocessed, with lag features and moving averages engineered to capture short- and medium-term </a:t>
            </a:r>
            <a:r>
              <a:rPr lang="en-US">
                <a:latin typeface="Arial"/>
                <a:cs typeface="Arial"/>
              </a:rPr>
              <a:t>patterns.</a:t>
            </a:r>
            <a:endParaRPr lang="en-US">
              <a:latin typeface="Calibri"/>
              <a:ea typeface="Calibri"/>
              <a:cs typeface="Calibri"/>
            </a:endParaRPr>
          </a:p>
          <a:p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A Random Forest regression model is trained using a time-based split and evaluated with MAE, RMSE, and R² to quantify performance.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Model and scaler artifacts are persisted and integrated into a lightweight Flask </a:t>
            </a:r>
            <a:r>
              <a:rPr lang="en-US">
                <a:latin typeface="Arial"/>
                <a:cs typeface="Arial"/>
              </a:rPr>
              <a:t>dashboard that visualizes Actual vs Predicted values.</a:t>
            </a:r>
            <a:br>
              <a:rPr lang="en-US" dirty="0">
                <a:latin typeface="Arial"/>
                <a:cs typeface="Arial"/>
              </a:rPr>
            </a:br>
            <a:endParaRPr lang="en-US" dirty="0">
              <a:latin typeface="Arial"/>
              <a:cs typeface="Arial"/>
            </a:endParaRPr>
          </a:p>
          <a:p>
            <a:r>
              <a:rPr lang="en-US" dirty="0">
                <a:latin typeface="Arial"/>
                <a:cs typeface="Arial"/>
              </a:rPr>
              <a:t>The prototype demonstrates a reproducible workflow for trend prediction and highlights next steps, including models, to improve accuracy</a:t>
            </a:r>
            <a:endParaRPr lang="en-US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826688" y="816473"/>
            <a:ext cx="5937302" cy="133916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en-US" sz="7200" b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Solution</a:t>
            </a:r>
            <a:br>
              <a:rPr lang="en-US" sz="7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</a:br>
            <a:endParaRPr lang="en-US" sz="2400">
              <a:ln w="1905"/>
              <a:gradFill>
                <a:gsLst>
                  <a:gs pos="0">
                    <a:srgbClr val="F79646">
                      <a:shade val="20000"/>
                      <a:satMod val="200000"/>
                    </a:srgbClr>
                  </a:gs>
                  <a:gs pos="78000">
                    <a:srgbClr val="F79646">
                      <a:tint val="90000"/>
                      <a:shade val="89000"/>
                      <a:satMod val="220000"/>
                    </a:srgbClr>
                  </a:gs>
                  <a:gs pos="100000">
                    <a:srgbClr val="F79646">
                      <a:tint val="12000"/>
                      <a:satMod val="255000"/>
                    </a:srgb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10771A-EFE1-5707-08AD-FDCF9F9A439E}"/>
              </a:ext>
            </a:extLst>
          </p:cNvPr>
          <p:cNvSpPr txBox="1"/>
          <p:nvPr/>
        </p:nvSpPr>
        <p:spPr>
          <a:xfrm>
            <a:off x="2591955" y="2154611"/>
            <a:ext cx="6550051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ea typeface="Calibri"/>
                <a:cs typeface="Calibri"/>
              </a:rPr>
              <a:t>AI-based stock trend prediction system</a:t>
            </a:r>
            <a:r>
              <a:rPr lang="en-US" sz="2400" dirty="0">
                <a:ea typeface="Calibri"/>
                <a:cs typeface="Calibri"/>
              </a:rPr>
              <a:t> that </a:t>
            </a:r>
            <a:r>
              <a:rPr lang="en-US" sz="2400">
                <a:ea typeface="Calibri"/>
                <a:cs typeface="Calibri"/>
              </a:rPr>
              <a:t>uses historical stock market data.</a:t>
            </a:r>
            <a:endParaRPr lang="en-US"/>
          </a:p>
          <a:p>
            <a:br>
              <a:rPr lang="en-US" sz="2400" dirty="0">
                <a:ea typeface="Calibri"/>
                <a:cs typeface="Calibri"/>
              </a:rPr>
            </a:br>
            <a:r>
              <a:rPr lang="en-US" sz="2400">
                <a:ea typeface="Calibri"/>
                <a:cs typeface="Calibri"/>
              </a:rPr>
              <a:t>ML algorithms used to learn patterns from past prices and predictions for future stock trends.</a:t>
            </a:r>
            <a:endParaRPr lang="en-US">
              <a:ea typeface="Calibri"/>
              <a:cs typeface="Calibri"/>
            </a:endParaRPr>
          </a:p>
          <a:p>
            <a:br>
              <a:rPr lang="en-US" sz="2400" dirty="0">
                <a:ea typeface="Calibri"/>
                <a:cs typeface="Calibri"/>
              </a:rPr>
            </a:br>
            <a:r>
              <a:rPr lang="en-US" sz="2400">
                <a:ea typeface="Calibri"/>
                <a:cs typeface="Calibri"/>
              </a:rPr>
              <a:t>Predicted results are visualized through a dashboard to help users understand stock.</a:t>
            </a:r>
            <a:endParaRPr lang="en-US">
              <a:ea typeface="Calibri"/>
              <a:cs typeface="Calibri"/>
            </a:endParaRPr>
          </a:p>
          <a:p>
            <a:pPr algn="l"/>
            <a:endParaRPr lang="en-US" sz="24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735958" y="922272"/>
            <a:ext cx="5975717" cy="103751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buNone/>
            </a:pPr>
            <a:r>
              <a:rPr lang="en-US" sz="5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Technologies </a:t>
            </a:r>
            <a:r>
              <a:rPr lang="en-US" sz="5400" b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stack</a:t>
            </a:r>
          </a:p>
          <a:p>
            <a:pPr algn="ctr">
              <a:buNone/>
            </a:pPr>
            <a:br>
              <a:rPr lang="en-US" sz="54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</a:br>
            <a:endParaRPr lang="en-US" sz="5400" b="1">
              <a:ln w="1905"/>
              <a:gradFill>
                <a:gsLst>
                  <a:gs pos="0">
                    <a:srgbClr val="F79646">
                      <a:shade val="20000"/>
                      <a:satMod val="200000"/>
                    </a:srgbClr>
                  </a:gs>
                  <a:gs pos="78000">
                    <a:srgbClr val="F79646">
                      <a:tint val="90000"/>
                      <a:shade val="89000"/>
                      <a:satMod val="220000"/>
                    </a:srgbClr>
                  </a:gs>
                  <a:gs pos="100000">
                    <a:srgbClr val="F79646">
                      <a:tint val="12000"/>
                      <a:satMod val="255000"/>
                    </a:srgb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ED04E8-CFD3-4BD3-E980-45B31BA10A2C}"/>
              </a:ext>
            </a:extLst>
          </p:cNvPr>
          <p:cNvSpPr txBox="1"/>
          <p:nvPr/>
        </p:nvSpPr>
        <p:spPr>
          <a:xfrm>
            <a:off x="2473142" y="2275988"/>
            <a:ext cx="5959658" cy="344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1600" b="1">
                <a:ea typeface="Calibri"/>
                <a:cs typeface="Calibri"/>
              </a:rPr>
              <a:t>Python</a:t>
            </a:r>
            <a:r>
              <a:rPr lang="en-US" sz="1600">
                <a:ea typeface="Calibri"/>
                <a:cs typeface="Calibri"/>
              </a:rPr>
              <a:t> – Main programming language used for data processing and model development</a:t>
            </a:r>
            <a:endParaRPr lang="en-US" sz="1600" dirty="0">
              <a:ea typeface="Calibri"/>
              <a:cs typeface="Calibri"/>
            </a:endParaRPr>
          </a:p>
          <a:p>
            <a:pPr marL="342900" indent="-342900">
              <a:spcBef>
                <a:spcPct val="20000"/>
              </a:spcBef>
            </a:pPr>
            <a:endParaRPr lang="en-US" sz="1600" dirty="0">
              <a:ea typeface="Calibri"/>
              <a:cs typeface="Calibri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600" b="1">
                <a:ea typeface="Calibri"/>
                <a:cs typeface="Calibri"/>
              </a:rPr>
              <a:t>Pandas &amp; NumPy</a:t>
            </a:r>
            <a:r>
              <a:rPr lang="en-US" sz="1600">
                <a:ea typeface="Calibri"/>
                <a:cs typeface="Calibri"/>
              </a:rPr>
              <a:t> – Data cleaning, preprocessing, and numerical operations</a:t>
            </a:r>
            <a:endParaRPr lang="en-US" sz="1600" dirty="0">
              <a:ea typeface="Calibri"/>
              <a:cs typeface="Calibri"/>
            </a:endParaRPr>
          </a:p>
          <a:p>
            <a:pPr marL="342900" indent="-342900">
              <a:spcBef>
                <a:spcPct val="20000"/>
              </a:spcBef>
            </a:pPr>
            <a:endParaRPr lang="en-US" sz="1600" dirty="0">
              <a:ea typeface="Calibri"/>
              <a:cs typeface="Calibri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600" b="1">
                <a:ea typeface="Calibri"/>
                <a:cs typeface="Calibri"/>
              </a:rPr>
              <a:t>Scikit-learn</a:t>
            </a:r>
            <a:r>
              <a:rPr lang="en-US" sz="1600">
                <a:ea typeface="Calibri"/>
                <a:cs typeface="Calibri"/>
              </a:rPr>
              <a:t> – Machine learning model training (Random Forest)</a:t>
            </a:r>
            <a:endParaRPr lang="en-US" sz="1600" dirty="0">
              <a:ea typeface="Calibri"/>
              <a:cs typeface="Calibri"/>
            </a:endParaRPr>
          </a:p>
          <a:p>
            <a:pPr marL="342900" indent="-342900">
              <a:spcBef>
                <a:spcPct val="20000"/>
              </a:spcBef>
            </a:pPr>
            <a:endParaRPr lang="en-US" sz="1600" dirty="0">
              <a:ea typeface="Calibri"/>
              <a:cs typeface="Calibri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600" b="1">
                <a:ea typeface="Calibri"/>
                <a:cs typeface="Calibri"/>
              </a:rPr>
              <a:t>Flask</a:t>
            </a:r>
            <a:r>
              <a:rPr lang="en-US" sz="1600">
                <a:ea typeface="Calibri"/>
                <a:cs typeface="Calibri"/>
              </a:rPr>
              <a:t> – Backend framework to build the dashboard interface</a:t>
            </a:r>
            <a:endParaRPr lang="en-US" sz="1600" dirty="0">
              <a:ea typeface="Calibri"/>
              <a:cs typeface="Calibri"/>
            </a:endParaRPr>
          </a:p>
          <a:p>
            <a:pPr marL="342900" indent="-342900">
              <a:spcBef>
                <a:spcPct val="20000"/>
              </a:spcBef>
            </a:pPr>
            <a:endParaRPr lang="en-US" sz="1600" dirty="0">
              <a:ea typeface="Calibri"/>
              <a:cs typeface="Calibri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600" b="1">
                <a:ea typeface="Calibri"/>
                <a:cs typeface="Calibri"/>
              </a:rPr>
              <a:t>Matplotlib / Seaborn</a:t>
            </a:r>
            <a:r>
              <a:rPr lang="en-US" sz="1600">
                <a:ea typeface="Calibri"/>
                <a:cs typeface="Calibri"/>
              </a:rPr>
              <a:t> – Data visualization and prediction graphs</a:t>
            </a:r>
            <a:endParaRPr lang="en-US" sz="1600" dirty="0">
              <a:ea typeface="Calibri"/>
              <a:cs typeface="Calibri"/>
            </a:endParaRPr>
          </a:p>
          <a:p>
            <a:pPr algn="l"/>
            <a:endParaRPr lang="en-US" sz="16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9C658-8342-4EA0-D11A-5C6B3B082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BB43F901-669E-861C-C332-E88FAB656D92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916344" y="2575370"/>
            <a:ext cx="5633837" cy="28464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074573-8E54-B414-449D-9A708CF981FF}"/>
              </a:ext>
            </a:extLst>
          </p:cNvPr>
          <p:cNvSpPr txBox="1"/>
          <p:nvPr/>
        </p:nvSpPr>
        <p:spPr>
          <a:xfrm>
            <a:off x="3812054" y="792558"/>
            <a:ext cx="542121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b="1" dirty="0">
                <a:solidFill>
                  <a:srgbClr val="A54200"/>
                </a:solidFill>
                <a:ea typeface="Calibri"/>
                <a:cs typeface="Calibri"/>
              </a:rPr>
              <a:t> </a:t>
            </a:r>
            <a:r>
              <a:rPr lang="en-US" sz="3600" b="1">
                <a:solidFill>
                  <a:srgbClr val="A54200"/>
                </a:solidFill>
                <a:ea typeface="Calibri"/>
                <a:cs typeface="Calibri"/>
              </a:rPr>
              <a:t>LIBRARIES USED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681668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E8AB1-B8C1-795C-B619-5D87C2FA8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C8521-F21B-96FF-4F16-99C880474B2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967392" y="265755"/>
            <a:ext cx="5257800" cy="152400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buNone/>
            </a:pPr>
            <a:endParaRPr lang="en-US" sz="5400" b="1" dirty="0">
              <a:ln w="1905"/>
              <a:gradFill>
                <a:gsLst>
                  <a:gs pos="0">
                    <a:srgbClr val="F79646">
                      <a:shade val="20000"/>
                      <a:satMod val="200000"/>
                    </a:srgbClr>
                  </a:gs>
                  <a:gs pos="78000">
                    <a:srgbClr val="F79646">
                      <a:tint val="90000"/>
                      <a:shade val="89000"/>
                      <a:satMod val="220000"/>
                    </a:srgbClr>
                  </a:gs>
                  <a:gs pos="100000">
                    <a:srgbClr val="F79646">
                      <a:tint val="12000"/>
                      <a:satMod val="255000"/>
                    </a:srgb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ea typeface="Calibri"/>
              <a:cs typeface="Calibri"/>
            </a:endParaRPr>
          </a:p>
          <a:p>
            <a:pPr algn="ctr">
              <a:buNone/>
            </a:pPr>
            <a:br>
              <a:rPr lang="en-US" sz="54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</a:br>
            <a:endParaRPr lang="en-US" sz="5400" b="1">
              <a:ln w="1905"/>
              <a:gradFill>
                <a:gsLst>
                  <a:gs pos="0">
                    <a:srgbClr val="F79646">
                      <a:shade val="20000"/>
                      <a:satMod val="200000"/>
                    </a:srgbClr>
                  </a:gs>
                  <a:gs pos="78000">
                    <a:srgbClr val="F79646">
                      <a:tint val="90000"/>
                      <a:shade val="89000"/>
                      <a:satMod val="220000"/>
                    </a:srgbClr>
                  </a:gs>
                  <a:gs pos="100000">
                    <a:srgbClr val="F79646">
                      <a:tint val="12000"/>
                      <a:satMod val="255000"/>
                    </a:srgb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ea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4D5BCF-D597-C3F4-DC85-57B2677F2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5312" y="1108127"/>
            <a:ext cx="3267941" cy="25257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163C4D-D30F-7190-2D58-605285BE8CC5}"/>
              </a:ext>
            </a:extLst>
          </p:cNvPr>
          <p:cNvSpPr txBox="1"/>
          <p:nvPr/>
        </p:nvSpPr>
        <p:spPr>
          <a:xfrm>
            <a:off x="3215814" y="-1616"/>
            <a:ext cx="592659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b="1" dirty="0">
                <a:solidFill>
                  <a:srgbClr val="A54200"/>
                </a:solidFill>
                <a:ea typeface="Calibri"/>
                <a:cs typeface="Calibri"/>
              </a:rPr>
              <a:t> </a:t>
            </a:r>
            <a:r>
              <a:rPr lang="en-US" sz="2800" b="1">
                <a:solidFill>
                  <a:srgbClr val="A54200"/>
                </a:solidFill>
                <a:ea typeface="Calibri"/>
                <a:cs typeface="Calibri"/>
              </a:rPr>
              <a:t>DATASET AND </a:t>
            </a:r>
            <a:r>
              <a:rPr lang="en-US" sz="2800" b="1" dirty="0">
                <a:solidFill>
                  <a:srgbClr val="A54200"/>
                </a:solidFill>
                <a:ea typeface="Calibri"/>
                <a:cs typeface="Calibri"/>
              </a:rPr>
              <a:t>INFORMATIONS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F86D56-961F-8A82-5091-D07592956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004" y="3867420"/>
            <a:ext cx="8709471" cy="255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098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83EAE-76D4-CB95-C400-A93E59AD4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74E152D6-D6E4-B371-5AAD-1319AA88A74A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447476" y="889211"/>
            <a:ext cx="8247791" cy="58740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6BDE76-D4A7-AD4F-C7E3-9B723BC980FE}"/>
              </a:ext>
            </a:extLst>
          </p:cNvPr>
          <p:cNvSpPr txBox="1"/>
          <p:nvPr/>
        </p:nvSpPr>
        <p:spPr>
          <a:xfrm>
            <a:off x="2701185" y="426874"/>
            <a:ext cx="374450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A54200"/>
                </a:solidFill>
                <a:ea typeface="Calibri"/>
                <a:cs typeface="Calibri"/>
              </a:rPr>
              <a:t> </a:t>
            </a:r>
            <a:r>
              <a:rPr lang="en-US" sz="2400" b="1">
                <a:solidFill>
                  <a:srgbClr val="A54200"/>
                </a:solidFill>
                <a:ea typeface="Calibri"/>
                <a:cs typeface="Calibri"/>
              </a:rPr>
              <a:t>OVERALL DASHBOARD</a:t>
            </a:r>
            <a:endParaRPr lang="en-US" sz="2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68543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BD4DD-8EEA-43A9-2390-1207502EA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64B49670-97A4-AC79-B148-0D99767D1EC2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5508" y="1259"/>
            <a:ext cx="4951745" cy="68942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525836-F9DB-A212-F1E3-C9C1A0796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9298" y="2919499"/>
            <a:ext cx="4175256" cy="35458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51C9AA-0E2D-33C4-2DAC-F83E4A7991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9297" y="2295"/>
            <a:ext cx="4179980" cy="290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149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9A4A7-DE43-7B2E-C103-DF7142062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49CB6126-548C-62E4-F69B-0316B90A7D3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-48" y="1259"/>
            <a:ext cx="5421002" cy="38052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91F44B-E8F8-6F36-ADFF-8BBAF91B0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" y="3806850"/>
            <a:ext cx="5502796" cy="30605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DBB4AB-1741-7782-338D-BF1FA8602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905" y="15736"/>
            <a:ext cx="3636817" cy="34116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6551B4-0338-17AC-5C15-B3483ACA46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3896" y="3427347"/>
            <a:ext cx="3718372" cy="3422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81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130498" y="631640"/>
            <a:ext cx="5903610" cy="39926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buNone/>
            </a:pPr>
            <a:r>
              <a:rPr lang="en-US" sz="36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Architect diagram</a:t>
            </a:r>
            <a:endParaRPr lang="en-US" sz="3600" b="1" dirty="0">
              <a:ln w="1905"/>
              <a:gradFill>
                <a:gsLst>
                  <a:gs pos="0">
                    <a:srgbClr val="F79646">
                      <a:shade val="20000"/>
                      <a:satMod val="200000"/>
                    </a:srgbClr>
                  </a:gs>
                  <a:gs pos="78000">
                    <a:srgbClr val="F79646">
                      <a:tint val="90000"/>
                      <a:shade val="89000"/>
                      <a:satMod val="220000"/>
                    </a:srgbClr>
                  </a:gs>
                  <a:gs pos="100000">
                    <a:srgbClr val="F79646">
                      <a:tint val="12000"/>
                      <a:satMod val="255000"/>
                    </a:srgb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ea typeface="Calibri"/>
              <a:cs typeface="Calibri"/>
            </a:endParaRPr>
          </a:p>
          <a:p>
            <a:pPr algn="ctr">
              <a:buNone/>
            </a:pPr>
            <a:endParaRPr lang="en-US" sz="3600" dirty="0">
              <a:ea typeface="Calibri"/>
              <a:cs typeface="Calibri"/>
            </a:endParaRPr>
          </a:p>
          <a:p>
            <a:pPr>
              <a:lnSpc>
                <a:spcPct val="170000"/>
              </a:lnSpc>
              <a:buFont typeface="Wingdings" pitchFamily="2" charset="2"/>
              <a:buChar char="Ø"/>
            </a:pPr>
            <a:endParaRPr lang="en-US" sz="3600" b="1" dirty="0">
              <a:ln w="10541" cmpd="sng">
                <a:solidFill>
                  <a:srgbClr val="4F81BD">
                    <a:shade val="88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4F81BD">
                      <a:tint val="40000"/>
                      <a:satMod val="250000"/>
                    </a:srgbClr>
                  </a:gs>
                  <a:gs pos="9000">
                    <a:srgbClr val="4F81BD">
                      <a:tint val="52000"/>
                      <a:satMod val="300000"/>
                    </a:srgbClr>
                  </a:gs>
                  <a:gs pos="50000">
                    <a:srgbClr val="4F81BD">
                      <a:shade val="20000"/>
                      <a:satMod val="300000"/>
                    </a:srgbClr>
                  </a:gs>
                  <a:gs pos="79000">
                    <a:srgbClr val="4F81BD">
                      <a:tint val="52000"/>
                      <a:satMod val="300000"/>
                    </a:srgbClr>
                  </a:gs>
                  <a:gs pos="100000">
                    <a:srgbClr val="4F81BD">
                      <a:tint val="40000"/>
                      <a:satMod val="250000"/>
                    </a:srgbClr>
                  </a:gs>
                </a:gsLst>
                <a:lin ang="5400000"/>
              </a:gradFill>
              <a:ea typeface="Calibri"/>
              <a:cs typeface="Calibri"/>
            </a:endParaRPr>
          </a:p>
          <a:p>
            <a:endParaRPr lang="en-US" sz="3600" dirty="0">
              <a:ea typeface="Calibri"/>
              <a:cs typeface="Calibri"/>
            </a:endParaRPr>
          </a:p>
          <a:p>
            <a:pPr>
              <a:buNone/>
            </a:pPr>
            <a:r>
              <a:rPr lang="en-US" sz="3600" dirty="0"/>
              <a:t> </a:t>
            </a:r>
            <a:endParaRPr lang="en-US" sz="3600" dirty="0">
              <a:ea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27B3E5E-E6AB-A0F8-C433-366B70A11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843" y="2583833"/>
            <a:ext cx="7330315" cy="30789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306828" y="554494"/>
            <a:ext cx="5751210" cy="95848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4800" b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Feature enhancement</a:t>
            </a:r>
            <a:endParaRPr lang="en-US" sz="1400" b="1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marL="0" indent="0">
              <a:buNone/>
            </a:pPr>
            <a:br>
              <a:rPr lang="en-US" sz="48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</a:br>
            <a:endParaRPr lang="en-US" sz="200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/>
              <a:ea typeface="Calibri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965377-171C-FCFC-4217-DE9328F185A1}"/>
              </a:ext>
            </a:extLst>
          </p:cNvPr>
          <p:cNvSpPr txBox="1"/>
          <p:nvPr/>
        </p:nvSpPr>
        <p:spPr>
          <a:xfrm>
            <a:off x="3067487" y="1917237"/>
            <a:ext cx="4750534" cy="46351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</a:pPr>
            <a:r>
              <a:rPr lang="en-US" dirty="0">
                <a:latin typeface="Arial"/>
                <a:cs typeface="Arial"/>
              </a:rPr>
              <a:t>1. Integration of advanced machine learning models, such as LSTM</a:t>
            </a:r>
            <a:r>
              <a:rPr lang="en-US" b="1" dirty="0">
                <a:latin typeface="Arial"/>
                <a:cs typeface="Arial"/>
              </a:rPr>
              <a:t> or </a:t>
            </a:r>
            <a:r>
              <a:rPr lang="en-US" dirty="0" err="1">
                <a:latin typeface="Arial"/>
                <a:cs typeface="Arial"/>
              </a:rPr>
              <a:t>XGBoost</a:t>
            </a:r>
            <a:r>
              <a:rPr lang="en-US" dirty="0">
                <a:latin typeface="Arial"/>
                <a:cs typeface="Arial"/>
              </a:rPr>
              <a:t>, to improve prediction accuracy.</a:t>
            </a:r>
          </a:p>
          <a:p>
            <a:pPr>
              <a:spcBef>
                <a:spcPct val="20000"/>
              </a:spcBef>
            </a:pPr>
            <a:endParaRPr lang="en-US" dirty="0">
              <a:latin typeface="Arial"/>
              <a:cs typeface="Arial"/>
            </a:endParaRPr>
          </a:p>
          <a:p>
            <a:pPr marL="342900" indent="-342900">
              <a:spcBef>
                <a:spcPct val="20000"/>
              </a:spcBef>
            </a:pPr>
            <a:r>
              <a:rPr lang="en-US">
                <a:latin typeface="Arial"/>
                <a:cs typeface="Arial"/>
              </a:rPr>
              <a:t>2. Addition of </a:t>
            </a:r>
            <a:r>
              <a:rPr lang="en-US" b="1">
                <a:latin typeface="Arial"/>
                <a:cs typeface="Arial"/>
              </a:rPr>
              <a:t>real-time stock data</a:t>
            </a:r>
            <a:r>
              <a:rPr lang="en-US">
                <a:latin typeface="Arial"/>
                <a:cs typeface="Arial"/>
              </a:rPr>
              <a:t> to provide live trend predictions.</a:t>
            </a:r>
            <a:endParaRPr lang="en-US" dirty="0">
              <a:latin typeface="Arial"/>
              <a:cs typeface="Arial"/>
            </a:endParaRPr>
          </a:p>
          <a:p>
            <a:pPr marL="342900" indent="-342900">
              <a:spcBef>
                <a:spcPct val="20000"/>
              </a:spcBef>
            </a:pPr>
            <a:endParaRPr lang="en-US" dirty="0">
              <a:latin typeface="Arial"/>
              <a:cs typeface="Arial"/>
            </a:endParaRPr>
          </a:p>
          <a:p>
            <a:pPr marL="342900" indent="-342900">
              <a:spcBef>
                <a:spcPct val="20000"/>
              </a:spcBef>
            </a:pPr>
            <a:r>
              <a:rPr lang="en-US">
                <a:latin typeface="Arial"/>
                <a:cs typeface="Arial"/>
              </a:rPr>
              <a:t>3. Development of a more interactive </a:t>
            </a:r>
            <a:r>
              <a:rPr lang="en-US" b="1">
                <a:latin typeface="Arial"/>
                <a:cs typeface="Arial"/>
              </a:rPr>
              <a:t>dashboard with detailed visualizations and stock trend graphs</a:t>
            </a:r>
            <a:r>
              <a:rPr lang="en-US">
                <a:latin typeface="Arial"/>
                <a:cs typeface="Arial"/>
              </a:rPr>
              <a:t>.</a:t>
            </a:r>
            <a:endParaRPr lang="en-US" dirty="0">
              <a:latin typeface="Arial"/>
              <a:cs typeface="Arial"/>
            </a:endParaRPr>
          </a:p>
          <a:p>
            <a:pPr marL="342900" indent="-342900">
              <a:spcBef>
                <a:spcPct val="20000"/>
              </a:spcBef>
            </a:pPr>
            <a:endParaRPr lang="en-US" dirty="0">
              <a:latin typeface="Arial"/>
              <a:cs typeface="Arial"/>
            </a:endParaRPr>
          </a:p>
          <a:p>
            <a:pPr marL="342900" indent="-342900">
              <a:spcBef>
                <a:spcPct val="20000"/>
              </a:spcBef>
            </a:pPr>
            <a:r>
              <a:rPr lang="en-US">
                <a:latin typeface="Arial"/>
                <a:cs typeface="Arial"/>
              </a:rPr>
              <a:t>4. Ability to support </a:t>
            </a:r>
            <a:r>
              <a:rPr lang="en-US" b="1">
                <a:latin typeface="Arial"/>
                <a:cs typeface="Arial"/>
              </a:rPr>
              <a:t>multiple stock symbols</a:t>
            </a:r>
            <a:r>
              <a:rPr lang="en-US">
                <a:latin typeface="Arial"/>
                <a:cs typeface="Arial"/>
              </a:rPr>
              <a:t> instead of analyzing only one company.</a:t>
            </a:r>
            <a:endParaRPr lang="en-US" dirty="0">
              <a:latin typeface="Arial"/>
              <a:cs typeface="Arial"/>
            </a:endParaRPr>
          </a:p>
          <a:p>
            <a:pPr marL="342900" indent="-342900" algn="ctr">
              <a:spcBef>
                <a:spcPct val="20000"/>
              </a:spcBef>
            </a:pPr>
            <a:endParaRPr lang="en-US" dirty="0">
              <a:ea typeface="Calibri"/>
              <a:cs typeface="Calibri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958890" y="943999"/>
            <a:ext cx="5638800" cy="2362199"/>
          </a:xfrm>
        </p:spPr>
        <p:txBody>
          <a:bodyPr/>
          <a:lstStyle/>
          <a:p>
            <a:pPr algn="ctr">
              <a:buNone/>
            </a:pPr>
            <a:r>
              <a:rPr lang="en-US" sz="66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Advantages</a:t>
            </a:r>
            <a:r>
              <a:rPr lang="en-US" sz="6600" dirty="0"/>
              <a:t> 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3E76B9-4CB2-D5E3-7DAF-927A2B318D37}"/>
              </a:ext>
            </a:extLst>
          </p:cNvPr>
          <p:cNvSpPr txBox="1"/>
          <p:nvPr/>
        </p:nvSpPr>
        <p:spPr>
          <a:xfrm>
            <a:off x="2960361" y="2413397"/>
            <a:ext cx="6039951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>
                <a:latin typeface="Arial"/>
                <a:ea typeface="+mn-lt"/>
                <a:cs typeface="Arial"/>
              </a:rPr>
              <a:t>Helps analyze historical stock data to identify market trends.</a:t>
            </a:r>
            <a:endParaRPr lang="en-US" sz="2400">
              <a:latin typeface="Arial"/>
              <a:ea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2400" dirty="0">
              <a:latin typeface="Arial"/>
              <a:ea typeface="+mn-lt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Arial"/>
                <a:ea typeface="+mn-lt"/>
                <a:cs typeface="Arial"/>
              </a:rPr>
              <a:t>Uses machine learning to provide more data-driven predictions.</a:t>
            </a:r>
            <a:endParaRPr lang="en-US" sz="2400">
              <a:latin typeface="Arial"/>
              <a:ea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2400" dirty="0">
              <a:latin typeface="Arial"/>
              <a:ea typeface="+mn-lt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Arial"/>
                <a:ea typeface="+mn-lt"/>
                <a:cs typeface="Arial"/>
              </a:rPr>
              <a:t>Visual dashboard makes stock trend insights easy to understand.</a:t>
            </a:r>
            <a:endParaRPr lang="en-US" sz="2400">
              <a:latin typeface="Arial"/>
              <a:ea typeface="Calibri"/>
              <a:cs typeface="Arial"/>
            </a:endParaRPr>
          </a:p>
          <a:p>
            <a:pPr algn="l"/>
            <a:endParaRPr lang="en-US" dirty="0">
              <a:latin typeface="Arial"/>
              <a:ea typeface="Calibri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897489" y="651164"/>
            <a:ext cx="6248400" cy="80104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US" sz="6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Core </a:t>
            </a:r>
            <a:r>
              <a:rPr lang="en-US" sz="6000" b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Modules</a:t>
            </a:r>
            <a:endParaRPr lang="en-US" sz="6000" b="1">
              <a:ln w="1905"/>
              <a:gradFill>
                <a:gsLst>
                  <a:gs pos="0">
                    <a:srgbClr val="F79646">
                      <a:shade val="20000"/>
                      <a:satMod val="200000"/>
                    </a:srgbClr>
                  </a:gs>
                  <a:gs pos="78000">
                    <a:srgbClr val="F79646">
                      <a:tint val="90000"/>
                      <a:shade val="89000"/>
                      <a:satMod val="220000"/>
                    </a:srgbClr>
                  </a:gs>
                  <a:gs pos="100000">
                    <a:srgbClr val="F79646">
                      <a:tint val="12000"/>
                      <a:satMod val="255000"/>
                    </a:srgb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ea typeface="Calibri"/>
              <a:cs typeface="Calibri"/>
            </a:endParaRPr>
          </a:p>
          <a:p>
            <a:pPr>
              <a:buNone/>
            </a:pPr>
            <a:r>
              <a:rPr lang="en-US" sz="6000" dirty="0"/>
              <a:t> </a:t>
            </a:r>
            <a:endParaRPr lang="en-US" sz="6000" dirty="0"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EFB89C-BA20-8DAD-D9F9-18B375A8D44D}"/>
              </a:ext>
            </a:extLst>
          </p:cNvPr>
          <p:cNvSpPr txBox="1"/>
          <p:nvPr/>
        </p:nvSpPr>
        <p:spPr>
          <a:xfrm>
            <a:off x="2431886" y="2428553"/>
            <a:ext cx="5836856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b="1">
                <a:latin typeface="Arial"/>
                <a:ea typeface="+mn-lt"/>
                <a:cs typeface="Arial"/>
              </a:rPr>
              <a:t>Data Collection &amp; Preprocessing: </a:t>
            </a:r>
            <a:r>
              <a:rPr lang="en-US" sz="2000">
                <a:latin typeface="Arial"/>
                <a:ea typeface="+mn-lt"/>
                <a:cs typeface="Arial"/>
              </a:rPr>
              <a:t>Collects historical stock data and cleans it for analysis.</a:t>
            </a:r>
            <a:endParaRPr lang="en-US" sz="2000" dirty="0">
              <a:latin typeface="Arial"/>
              <a:ea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2000" dirty="0">
              <a:latin typeface="Arial"/>
              <a:ea typeface="+mn-lt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latin typeface="Arial"/>
                <a:ea typeface="+mn-lt"/>
                <a:cs typeface="Arial"/>
              </a:rPr>
              <a:t>Machine Learning Model:</a:t>
            </a:r>
            <a:r>
              <a:rPr lang="en-US" sz="2000">
                <a:latin typeface="Arial"/>
                <a:ea typeface="+mn-lt"/>
                <a:cs typeface="Arial"/>
              </a:rPr>
              <a:t> Trains the model using historical data to predict stock trends.</a:t>
            </a:r>
            <a:endParaRPr lang="en-US" sz="2000" dirty="0">
              <a:latin typeface="Arial"/>
              <a:ea typeface="Calibri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2000" dirty="0">
              <a:latin typeface="Arial"/>
              <a:ea typeface="+mn-lt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latin typeface="Arial"/>
                <a:ea typeface="+mn-lt"/>
                <a:cs typeface="Arial"/>
              </a:rPr>
              <a:t>Prediction &amp; Visualization:</a:t>
            </a:r>
            <a:r>
              <a:rPr lang="en-US" sz="2000">
                <a:latin typeface="Arial"/>
                <a:ea typeface="+mn-lt"/>
                <a:cs typeface="Arial"/>
              </a:rPr>
              <a:t> Displays predicted results and stock trends through graphs on the dashboard.</a:t>
            </a:r>
            <a:endParaRPr lang="en-US" sz="2000" dirty="0">
              <a:latin typeface="Arial"/>
              <a:ea typeface="Calibri"/>
              <a:cs typeface="Arial"/>
            </a:endParaRPr>
          </a:p>
          <a:p>
            <a:pPr algn="l"/>
            <a:endParaRPr lang="en-US" dirty="0">
              <a:latin typeface="Arial"/>
              <a:ea typeface="Calibri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980302" y="367145"/>
            <a:ext cx="5410200" cy="126265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6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Conclusion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DA6DFB-6BF3-4920-E336-F002485FE0E2}"/>
              </a:ext>
            </a:extLst>
          </p:cNvPr>
          <p:cNvSpPr txBox="1"/>
          <p:nvPr/>
        </p:nvSpPr>
        <p:spPr>
          <a:xfrm>
            <a:off x="2401087" y="1715910"/>
            <a:ext cx="6115521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+mn-lt"/>
                <a:cs typeface="+mn-lt"/>
              </a:rPr>
              <a:t>This project shows how ML can </a:t>
            </a:r>
            <a:r>
              <a:rPr lang="en-US" sz="2400" dirty="0">
                <a:ea typeface="+mn-lt"/>
                <a:cs typeface="+mn-lt"/>
              </a:rPr>
              <a:t>be used to analyze historical stock data and predict future trends.</a:t>
            </a:r>
          </a:p>
          <a:p>
            <a:br>
              <a:rPr lang="en-US" sz="2400" dirty="0">
                <a:ea typeface="+mn-lt"/>
                <a:cs typeface="+mn-lt"/>
              </a:rPr>
            </a:br>
            <a:r>
              <a:rPr lang="en-US" sz="2400" dirty="0">
                <a:ea typeface="+mn-lt"/>
                <a:cs typeface="+mn-lt"/>
              </a:rPr>
              <a:t>This system helps users understand </a:t>
            </a:r>
            <a:r>
              <a:rPr lang="en-US" sz="2400">
                <a:ea typeface="+mn-lt"/>
                <a:cs typeface="+mn-lt"/>
              </a:rPr>
              <a:t>stock </a:t>
            </a:r>
            <a:r>
              <a:rPr lang="en-US" sz="2400">
                <a:latin typeface="Calibri"/>
                <a:ea typeface="+mn-lt"/>
                <a:cs typeface="Calibri"/>
              </a:rPr>
              <a:t>trends</a:t>
            </a:r>
            <a:r>
              <a:rPr lang="en-US" sz="2400" dirty="0">
                <a:latin typeface="Arial"/>
                <a:ea typeface="+mn-lt"/>
                <a:cs typeface="Arial"/>
              </a:rPr>
              <a:t> </a:t>
            </a:r>
            <a:r>
              <a:rPr lang="en-US" sz="2400">
                <a:ea typeface="+mn-lt"/>
                <a:cs typeface="+mn-lt"/>
              </a:rPr>
              <a:t>through data-driven predictions and </a:t>
            </a:r>
            <a:r>
              <a:rPr lang="en-US" sz="2400" dirty="0">
                <a:ea typeface="+mn-lt"/>
                <a:cs typeface="+mn-lt"/>
              </a:rPr>
              <a:t>visual insights.</a:t>
            </a:r>
          </a:p>
          <a:p>
            <a:br>
              <a:rPr lang="en-US" sz="2400" dirty="0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Overall, it shows the potential of AI in </a:t>
            </a:r>
            <a:r>
              <a:rPr lang="en-US" sz="2400" dirty="0">
                <a:ea typeface="+mn-lt"/>
                <a:cs typeface="+mn-lt"/>
              </a:rPr>
              <a:t>supporting smarter stock market analysis and decision-making.</a:t>
            </a:r>
            <a:endParaRPr lang="en-US" sz="24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8550" y="3161355"/>
            <a:ext cx="7010400" cy="1143000"/>
          </a:xfrm>
        </p:spPr>
        <p:txBody>
          <a:bodyPr>
            <a:normAutofit fontScale="90000"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b="1">
                <a:ln w="11430"/>
                <a:gradFill>
                  <a:gsLst>
                    <a:gs pos="0">
                      <a:srgbClr val="C0504D">
                        <a:tint val="70000"/>
                        <a:satMod val="245000"/>
                      </a:srgbClr>
                    </a:gs>
                    <a:gs pos="75000">
                      <a:srgbClr val="C0504D">
                        <a:tint val="90000"/>
                        <a:shade val="60000"/>
                        <a:satMod val="240000"/>
                      </a:srgbClr>
                    </a:gs>
                    <a:gs pos="100000">
                      <a:srgbClr val="C0504D">
                        <a:tint val="100000"/>
                        <a:shade val="50000"/>
                        <a:satMod val="240000"/>
                      </a:srgb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ea typeface="Calibri"/>
                <a:cs typeface="Calibri"/>
              </a:rPr>
              <a:t>THANK YOU</a:t>
            </a:r>
            <a:br>
              <a:rPr lang="en-US" b="1" dirty="0">
                <a:ln w="11430"/>
                <a:gradFill>
                  <a:gsLst>
                    <a:gs pos="0">
                      <a:srgbClr val="C0504D">
                        <a:tint val="70000"/>
                        <a:satMod val="245000"/>
                      </a:srgbClr>
                    </a:gs>
                    <a:gs pos="75000">
                      <a:srgbClr val="C0504D">
                        <a:tint val="90000"/>
                        <a:shade val="60000"/>
                        <a:satMod val="240000"/>
                      </a:srgbClr>
                    </a:gs>
                    <a:gs pos="100000">
                      <a:srgbClr val="C0504D">
                        <a:tint val="100000"/>
                        <a:shade val="50000"/>
                        <a:satMod val="240000"/>
                      </a:srgb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ea typeface="Calibri"/>
                <a:cs typeface="Calibri"/>
              </a:rPr>
            </a:br>
            <a:endParaRPr lang="en-US" b="1" dirty="0">
              <a:ln w="11430"/>
              <a:gradFill>
                <a:gsLst>
                  <a:gs pos="0">
                    <a:srgbClr val="C0504D">
                      <a:tint val="70000"/>
                      <a:satMod val="245000"/>
                    </a:srgbClr>
                  </a:gs>
                  <a:gs pos="75000">
                    <a:srgbClr val="C0504D">
                      <a:tint val="90000"/>
                      <a:shade val="60000"/>
                      <a:satMod val="240000"/>
                    </a:srgbClr>
                  </a:gs>
                  <a:gs pos="100000">
                    <a:srgbClr val="C0504D">
                      <a:tint val="100000"/>
                      <a:shade val="50000"/>
                      <a:satMod val="240000"/>
                    </a:srgb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2286001"/>
            <a:ext cx="6324600" cy="2895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endParaRPr lang="en-US" b="1" dirty="0">
              <a:solidFill>
                <a:srgbClr val="7030A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</TotalTime>
  <Words>58</Words>
  <Application>Microsoft Office PowerPoint</Application>
  <PresentationFormat>On-screen Show (4:3)</PresentationFormat>
  <Paragraphs>25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RISHVANTH A TEAM - 3 STOCK TREND PREDICTION 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and project</dc:title>
  <dc:creator>ADMIN</dc:creator>
  <cp:lastModifiedBy>ADMIN</cp:lastModifiedBy>
  <cp:revision>323</cp:revision>
  <dcterms:created xsi:type="dcterms:W3CDTF">2026-03-10T11:01:25Z</dcterms:created>
  <dcterms:modified xsi:type="dcterms:W3CDTF">2026-03-13T13:56:34Z</dcterms:modified>
</cp:coreProperties>
</file>